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Swiss Design Principles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Swiss Typography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International Typographic Style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Design Principles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Clarity Through Structure</a:t>
            </a:r>
          </a:p>
          <a:p>
            <a:pPr lvl="0" indent="0" marL="0">
              <a:buNone/>
            </a:pPr>
            <a:r>
              <a:rPr/>
              <a:t>The Swiss design movement, born in the 1950s, revolutionized visual communication through:</a:t>
            </a:r>
          </a:p>
          <a:p>
            <a:pPr lvl="0"/>
            <a:r>
              <a:rPr b="1"/>
              <a:t>Grid-based layouts</a:t>
            </a:r>
            <a:r>
              <a:rPr/>
              <a:t> — Mathematical precision in composition</a:t>
            </a:r>
          </a:p>
          <a:p>
            <a:pPr lvl="0"/>
            <a:r>
              <a:rPr b="1"/>
              <a:t>Sans-serif typography</a:t>
            </a:r>
            <a:r>
              <a:rPr/>
              <a:t> — Helvetica as the ultimate expression</a:t>
            </a:r>
          </a:p>
          <a:p>
            <a:pPr lvl="0"/>
            <a:r>
              <a:rPr b="1"/>
              <a:t>Asymmetric balance</a:t>
            </a:r>
            <a:r>
              <a:rPr/>
              <a:t> — Dynamic yet harmonious arrangements</a:t>
            </a:r>
          </a:p>
          <a:p>
            <a:pPr lvl="0"/>
            <a:r>
              <a:rPr b="1"/>
              <a:t>Objective photography</a:t>
            </a:r>
            <a:r>
              <a:rPr/>
              <a:t> — Reality over illustration</a:t>
            </a:r>
          </a:p>
          <a:p>
            <a:pPr lvl="0" indent="0" marL="1270000">
              <a:buNone/>
            </a:pPr>
            <a:r>
              <a:rPr sz="2000"/>
              <a:t>Good design is as little design as possible. — Dieter Rams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Grid System</a:t>
            </a:r>
          </a:p>
          <a:p>
            <a:pPr lvl="0" indent="0" marL="0">
              <a:buNone/>
            </a:pPr>
            <a:r>
              <a:rPr/>
              <a:t>::TwoColumns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lvl="0" indent="0" marL="0">
              <a:buNone/>
            </a:pPr>
            <a:r>
              <a:rPr/>
              <a:t>The grid provides structure without sacrificing creativity. It creates visual rhythm and guides the eye naturally through content.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</a:t>
            </a:r>
          </a:p>
          <a:p>
            <a:pPr lvl="0" indent="-342900" marL="342900">
              <a:buAutoNum type="arabicPeriod"/>
            </a:pPr>
            <a:r>
              <a:rPr/>
              <a:t>Establish consistent margins</a:t>
            </a:r>
          </a:p>
          <a:p>
            <a:pPr lvl="0" indent="-342900" marL="342900">
              <a:buAutoNum type="arabicPeriod"/>
            </a:pPr>
            <a:r>
              <a:rPr/>
              <a:t>Define column widths</a:t>
            </a:r>
          </a:p>
          <a:p>
            <a:pPr lvl="0" indent="-342900" marL="342900">
              <a:buAutoNum type="arabicPeriod"/>
            </a:pPr>
            <a:r>
              <a:rPr/>
              <a:t>Align all elements to the grid</a:t>
            </a:r>
          </a:p>
          <a:p>
            <a:pPr lvl="0" indent="-342900" marL="342900">
              <a:buAutoNum type="arabicPeriod"/>
            </a:pPr>
            <a:r>
              <a:rPr/>
              <a:t>Use white space intentionally</a:t>
            </a:r>
          </a:p>
          <a:p>
            <a:pPr lvl="0" indent="0" marL="0">
              <a:buNone/>
            </a:pPr>
            <a:r>
              <a:rPr/>
              <a:t>::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Clean, Functional Code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swissDesign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typography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'Helvetica Neue'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colors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'#000000'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'#ffffff'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'#e63946'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principles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'Clarity'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'Objectivity'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'Universality'</a:t>
            </a:r>
            <a:br/>
            <a:r>
              <a:rPr>
                <a:latin typeface="Courier"/>
              </a:rPr>
              <a:t>  ]</a:t>
            </a:r>
            <a:br/>
            <a:r>
              <a:rPr>
                <a:latin typeface="Courier"/>
              </a:rPr>
              <a:t>}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hierarchy, ample white space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Sans-serif fonts, neutral colors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Mathematical, consistent layouts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Remove unnecessary decoration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indent="0" marL="0">
              <a:buNone/>
            </a:pPr>
            <a:r>
              <a:rPr/>
              <a:t>Less is more.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Design Principles</dc:title>
  <dc:creator/>
  <cp:keywords/>
  <dcterms:created xsi:type="dcterms:W3CDTF">2026-02-25T08:49:23Z</dcterms:created>
  <dcterms:modified xsi:type="dcterms:W3CDTF">2026-02-25T08:49:23Z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eal">
    <vt:lpwstr/>
  </property>
  <property fmtid="{D5CDD505-2E9C-101B-9397-08002B2CF9AE}" pid="3" name="theme">
    <vt:lpwstr>minimal</vt:lpwstr>
  </property>
</Properties>
</file>